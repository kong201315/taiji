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-731520"/>
            <a:ext cx="3291840" cy="3291840"/>
          </a:xfrm>
          <a:prstGeom prst="ellipse">
            <a:avLst/>
          </a:prstGeom>
          <a:noFill/>
          <a:ln w="15240">
            <a:solidFill>
              <a:srgbClr val="2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95160" y="-594360"/>
            <a:ext cx="2286000" cy="2286000"/>
          </a:xfrm>
          <a:prstGeom prst="ellipse">
            <a:avLst/>
          </a:prstGeom>
          <a:noFill/>
          <a:ln w="15240">
            <a:solidFill>
              <a:srgbClr val="2A2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3108960"/>
            <a:ext cx="2743200" cy="2743200"/>
          </a:xfrm>
          <a:prstGeom prst="ellipse">
            <a:avLst/>
          </a:prstGeom>
          <a:noFill/>
          <a:ln w="15240">
            <a:solidFill>
              <a:srgbClr val="24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PROJECT · WORK REPORT</a:t>
            </a:r>
            <a:endParaRPr sz="12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502920" cy="2743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智承太极</a:t>
            </a:r>
            <a:endParaRPr sz="6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2514600"/>
            <a:ext cx="914400" cy="41148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377440"/>
            <a:ext cx="6766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数字教学与交互展示系统</a:t>
            </a:r>
            <a:endParaRPr sz="26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3154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全国建模精英联赛参赛项目  ·  项目开发工作汇报</a:t>
            </a:r>
            <a:endParaRPr sz="15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379476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136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汇报日期：2026年8月12日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4709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A4A52"/>
                </a:solidFill>
                <a:latin typeface="微软雅黑" panose="020B0503020204020204" charset="-122"/>
                <a:ea typeface="微软雅黑" panose="020B0503020204020204" charset="-122"/>
              </a:rPr>
              <a:t>TAIJI · DIGITAL · INTERACTION</a:t>
            </a:r>
            <a:endParaRPr sz="1000" b="0">
              <a:solidFill>
                <a:srgbClr val="4A4A5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汇报框架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CONTENTS  ·  全程围绕 Figma 接入、首页绘制与 Web 应用升级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2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264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140817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1609344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双线交付 · 技术栈 · 关键数据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09160" y="1326007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9495" y="1425956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0" y="1426083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 接入过程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0680" y="1608836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三条路线选型 · 接入链 · 插件设置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2478024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578608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25880" y="25603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首页绘制过程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25880" y="27614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画稿规格 · 清空重画 · 绘制内容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54880" y="2478024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578608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40680" y="25603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绘制踩坑记录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40680" y="27614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5 个工具级坑与解法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3054096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154679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3136391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第一页效果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25880" y="333756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首页成品逐区域解读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754880" y="3054096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3154679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40680" y="3136391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Web 应用升级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40680" y="333756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5 API · 训练闭环 · 境界体系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40080" y="3630168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730752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25880" y="3712463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质量保障与测试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25880" y="3913631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测试矩阵 · 真实数据落盘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754880" y="3630168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730752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0680" y="3712463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协作与工具链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40680" y="3913631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双 AI 协作 · Figma 工具链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40080" y="4206240"/>
            <a:ext cx="3886200" cy="47548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06824"/>
            <a:ext cx="548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sz="15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325880" y="428853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25880" y="4489703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P0 / P1 / P2 路线图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立足传统武术，融合数字技术，打造沉浸式太极教学体验 · 双线交付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3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73736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双线交付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Figma 可点击高保真原型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参赛展示 · 文档素材 · 设计先行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可运行 Web 应用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真实交互 · 实时数据 · 答辩演示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73736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5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技术栈升级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92040" y="182880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前端：HTML / CSS / JavaScript 单页应用</a:t>
            </a:r>
            <a:endParaRPr sz="11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升级后 4055 行 · 单文件 SPA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后端：Node 原生 server.js</a:t>
            </a:r>
            <a:endParaRPr sz="11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零依赖 · 静态文件 + REST API + 持久化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数据：data.json 落盘，重启不丢</a:t>
            </a:r>
            <a:endParaRPr sz="11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1481328" cy="1325880"/>
          </a:xfrm>
          <a:prstGeom prst="roundRect">
            <a:avLst>
              <a:gd name="adj" fmla="val 5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59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杨氏太极招式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76272" y="3246120"/>
            <a:ext cx="1481328" cy="1325880"/>
          </a:xfrm>
          <a:prstGeom prst="roundRect">
            <a:avLst>
              <a:gd name="adj" fmla="val 5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6272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3794759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总分制 / 满分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03904" y="3246120"/>
            <a:ext cx="1481328" cy="1325880"/>
          </a:xfrm>
          <a:prstGeom prst="roundRect">
            <a:avLst>
              <a:gd name="adj" fmla="val 5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03904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3904" y="3794759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级境界体系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31536" y="3246120"/>
            <a:ext cx="1481328" cy="1325880"/>
          </a:xfrm>
          <a:prstGeom prst="roundRect">
            <a:avLst>
              <a:gd name="adj" fmla="val 5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31536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31536" y="3794759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后端 API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9168" y="3246120"/>
            <a:ext cx="1481328" cy="1325880"/>
          </a:xfrm>
          <a:prstGeom prst="roundRect">
            <a:avLst>
              <a:gd name="adj" fmla="val 5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9168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59168" y="3794759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API 测试全过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 接入过程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如何把 Claude Code 接进 Figma 绘图 · 三条路线选型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6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2578608" cy="196596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264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ROUTE 1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70078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figma-developer-mcp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先接入 · 只读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39572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社区方案 npx 即装即用；主人生成 API key，claude mcp add 注册，支持创建 frame/rectangle/text。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73552" y="1298448"/>
            <a:ext cx="2578608" cy="196596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solidFill>
              <a:srgbClr val="3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4264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ROUTE 2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56432" y="170078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html.to.design MCP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432" y="21214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被墙 · 弃用保留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432" y="239572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mcp.to.design 解析到海外 IP(173.194.43.121)，大陆直连 60s 超时；配置保留，待代理后可批量导入。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98464" y="1298448"/>
            <a:ext cx="2578608" cy="1965960"/>
          </a:xfrm>
          <a:prstGeom prst="roundRect">
            <a:avLst>
              <a:gd name="adj" fmla="val 8000"/>
            </a:avLst>
          </a:prstGeom>
          <a:solidFill>
            <a:srgbClr val="16161C"/>
          </a:solidFill>
          <a:ln w="12700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264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ROUTE 3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81344" y="170078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figma-designer-mcp + 插件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81344" y="21214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主用 · 可写入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81344" y="239572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44+ 写入工具（AI→设计）；插件经 WebSocket 桥接本地 3055 端口，直接写入当前打开的 Figma 文件。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5387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520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接入链示意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8046720" cy="65836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950208"/>
            <a:ext cx="1783080" cy="438912"/>
          </a:xfrm>
          <a:prstGeom prst="roundRect">
            <a:avLst>
              <a:gd name="adj" fmla="val 20000"/>
            </a:avLst>
          </a:prstGeom>
          <a:solidFill>
            <a:srgbClr val="0F0F13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599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Claude Code</a:t>
            </a:r>
            <a:endParaRPr sz="11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0" y="397763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017520" y="3950208"/>
            <a:ext cx="1783080" cy="438912"/>
          </a:xfrm>
          <a:prstGeom prst="roundRect">
            <a:avLst>
              <a:gd name="adj" fmla="val 20000"/>
            </a:avLst>
          </a:prstGeom>
          <a:solidFill>
            <a:srgbClr val="0F0F13"/>
          </a:solidFill>
          <a:ln w="12700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0599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AI Figma Designer 插件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4960" y="397763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69280" y="3950208"/>
            <a:ext cx="1463040" cy="438912"/>
          </a:xfrm>
          <a:prstGeom prst="roundRect">
            <a:avLst>
              <a:gd name="adj" fmla="val 20000"/>
            </a:avLst>
          </a:prstGeom>
          <a:solidFill>
            <a:srgbClr val="0F0F13"/>
          </a:solidFill>
          <a:ln w="12700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05993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Figma 文件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插件一次性设置：Figma → Plugins → Development → Import from manifest → 运行插件输入 ws://127.0.0.1:3055 → Connect（插件窗口不能退出）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首页绘制过程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先提取画稿规格，再整体清空重画 · 从 HTML 到 Figma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7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画稿规格（从 index.html 提取）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首页 frame：1440 × 1040</a:t>
            </a:r>
            <a:endParaRPr sz="12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布局：侧边栏 232px + 主内容区（padding 36/48/60）</a:t>
            </a:r>
            <a:endParaRPr sz="10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设计系统：深色科技武术风（色板已量化）</a:t>
            </a:r>
            <a:endParaRPr sz="10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分区块规格：Banner 渐变 / 环形 100×100 / 金环 64px</a:t>
            </a:r>
            <a:endParaRPr sz="10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5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采用「训练进行中」演示状态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92040" y="182880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已掌握 3 / 16</a:t>
            </a:r>
            <a:endParaRPr sz="13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得分 19 分 · 境界「入门」</a:t>
            </a:r>
            <a:endParaRPr sz="13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本周训练 3 / 5 次</a:t>
            </a:r>
            <a:endParaRPr sz="13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35584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37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绘制内容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3886200" cy="36576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21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侧边栏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03120" y="37216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4 组 11 项分组导航（带图标）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17720" y="3657600"/>
            <a:ext cx="3886200" cy="36576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721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Welcome Banner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37216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深色渐变 + 3 stat 点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3886200" cy="36576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788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 张 Stat 卡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03120" y="41788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环形部分弧进度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617720" y="4114800"/>
            <a:ext cx="3886200" cy="36576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41788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Quick 快捷区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72200" y="41788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继续学习 / 开始训练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3886200" cy="36576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36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本周目标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03120" y="46360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金环 3/5 + 训练记录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17720" y="4572000"/>
            <a:ext cx="3886200" cy="36576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82312" y="4636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教师反馈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72200" y="46360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金色 info-box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绘制踩坑记录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工具级非显然行为 · 每次排查都很耗时，已沉淀为规则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8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61872" y="1435607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容器必须用 FRAME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174650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RECTANGLE 不能当父节点，子节点挂不上、结构错乱、reparent 报错。解法：先建 FRAME 再 set_corner_radius。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132588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435607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0952" y="1435607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add_text 假错误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174650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报 appendChild is not a function，但文本其实已创建成功。解法：用 find_nodes 确认实际创建，别被错误吓到。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35000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5973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1872" y="24597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环形旋转偏移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277063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环形部分弧 dashPattern + 旋转 -90° 后必须 set_position 复位，否则整体偏移 100px 错位。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17720" y="235000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45973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0952" y="24597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插件字体顺序 bug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0600" y="277063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先写 characters 再设 fontName 会报未加载字体。解法：fontName 放 characters 之前（已修 plugin.js）。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337413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8386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61872" y="34838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桥接断开判断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3794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set_fill 报 not connected，但 create_frame 可能仍成功。解法：以 figma_bridge_status.connected 为准；插件窗口不能退出。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4224528"/>
            <a:ext cx="80467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第一页效果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首页成品 · fileKey kJbQQa5AIqT41fiNON90QQ · frame 4:2 · 1440×1040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9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3716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整体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8840" y="1371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深色科技武术风；左侧深色导航 + 右侧暖米内容区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17556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侧边栏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8840" y="1828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Logo「智承太极/数字教学系统」+ 4 组 11 项导航（图标）+ 底部用户「金润山 + 班级 + ⚙」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2128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286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Banner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0" y="22860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深色渐变 #0F1419→#1C2530→#233040 圆角14；「早上好」小字 + 衬线大字「欢迎回来，金润山」+ 3 个红/金/绿 stat 点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26700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7432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Stat 卡 ×3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8840" y="2743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白底卡片 + 环形部分弧（100×100，红78/绿12/金3）+ 数字 26px + 绿色 delta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31272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2004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Quick 双卡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48840" y="32004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继续学习（浅红渐变图标）/ 开始训练（浅金渐变图标，52px）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5844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6161C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6576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本周目标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8840" y="3657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金色环 64px 3/5 + 5 行训练记录（绿/金/灰点）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4041648"/>
            <a:ext cx="8046720" cy="384048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1148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教师反馈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8840" y="4114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金色 info-box #F5EDDA，左边框 3px #C4A35A，标题 12px #8B6914</a:t>
            </a:r>
            <a:endParaRPr sz="1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环形部分弧绘制技巧：stroke dashPattern + 旋转 -90°，旋转后必须 set_position 复位。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Web 应用升级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HTML 真后台化 · Node 后端 + REST API + data.json 持久化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316736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2984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新增 Node 后端 server.js · 5 个 API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1645920"/>
            <a:ext cx="2578608" cy="475488"/>
          </a:xfrm>
          <a:prstGeom prst="roundRect">
            <a:avLst>
              <a:gd name="adj" fmla="val 14000"/>
            </a:avLst>
          </a:prstGeom>
          <a:solidFill>
            <a:srgbClr val="0F0F13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7099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/api/user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192938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GET/POST · 登录层，姓名班级持久化</a:t>
            </a:r>
            <a:endParaRPr sz="8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73552" y="1645920"/>
            <a:ext cx="2578608" cy="475488"/>
          </a:xfrm>
          <a:prstGeom prst="roundRect">
            <a:avLst>
              <a:gd name="adj" fmla="val 14000"/>
            </a:avLst>
          </a:prstGeom>
          <a:solidFill>
            <a:srgbClr val="0F0F13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17099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/api/dashboard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19856" y="192938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GET · 首页统计 / 环形 / 本周目标</a:t>
            </a:r>
            <a:endParaRPr sz="8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98464" y="1645920"/>
            <a:ext cx="2578608" cy="475488"/>
          </a:xfrm>
          <a:prstGeom prst="roundRect">
            <a:avLst>
              <a:gd name="adj" fmla="val 14000"/>
            </a:avLst>
          </a:prstGeom>
          <a:solidFill>
            <a:srgbClr val="0F0F13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7099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/api/records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92938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GET · 训练记录</a:t>
            </a:r>
            <a:endParaRPr sz="8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2212848"/>
            <a:ext cx="2578608" cy="475488"/>
          </a:xfrm>
          <a:prstGeom prst="roundRect">
            <a:avLst>
              <a:gd name="adj" fmla="val 14000"/>
            </a:avLst>
          </a:prstGeom>
          <a:solidFill>
            <a:srgbClr val="0F0F13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27685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/api/forms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" y="249631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GET · 招式掌握状态</a:t>
            </a:r>
            <a:endParaRPr sz="8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73552" y="2212848"/>
            <a:ext cx="2578608" cy="475488"/>
          </a:xfrm>
          <a:prstGeom prst="roundRect">
            <a:avLst>
              <a:gd name="adj" fmla="val 14000"/>
            </a:avLst>
          </a:prstGeom>
          <a:solidFill>
            <a:srgbClr val="0F0F13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227685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/api/training</a:t>
            </a:r>
            <a:endParaRPr sz="115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19856" y="249631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POST · 训练提交与评分</a:t>
            </a:r>
            <a:endParaRPr sz="8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283464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017520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29992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训练闭环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3346704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完成训练 → 后端评分加分 → 实时刷新</a:t>
            </a:r>
            <a:endParaRPr sz="11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每式均分 6.25 · 16 式满分 100</a:t>
            </a:r>
            <a:endParaRPr sz="105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不重复加分 · 不扣分（A 方案）· 从零累积</a:t>
            </a:r>
            <a:endParaRPr sz="105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663440" y="283464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3017520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0055" y="29992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6 级境界体系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92040" y="3346704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未开始 0 / 入门 1-24 / 初学 25-49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小成 50-74 / 大成 75-99 / 圆满 100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随总分自动推进 · 全页面实时联动</a:t>
            </a:r>
            <a:endParaRPr sz="105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评分报告页支持「N」快捷键直接练习下一式 · 所有页面数据由后端驱动</a:t>
            </a:r>
            <a:endParaRPr sz="10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质量保障与测试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三层验证 + 真实数据落盘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3886200" cy="749808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53895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22 项</a:t>
            </a:r>
            <a:endParaRPr sz="26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143560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后端 API 全过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11680" y="17099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全量接口回归通过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1325880"/>
            <a:ext cx="3886200" cy="749808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453895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headless</a:t>
            </a:r>
            <a:endParaRPr sz="26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0760" y="143560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前端渲染验证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0760" y="17099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无头浏览器核验页面完整性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194560"/>
            <a:ext cx="3886200" cy="749808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2257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重启</a:t>
            </a:r>
            <a:endParaRPr sz="26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11680" y="23042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持久化验证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11680" y="2578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data.json 落盘，服务重启数据不丢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17720" y="2194560"/>
            <a:ext cx="3886200" cy="749808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32257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6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0760" y="23042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用户旅程链路</a:t>
            </a:r>
            <a:endParaRPr sz="13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80760" y="2578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首页→…→分步教学全链路跑通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3154680"/>
            <a:ext cx="8046720" cy="1234440"/>
          </a:xfrm>
          <a:prstGeom prst="roundRect">
            <a:avLst>
              <a:gd name="adj" fmla="val 10000"/>
            </a:avLst>
          </a:prstGeom>
          <a:solidFill>
            <a:srgbClr val="0F0F13"/>
          </a:solidFill>
          <a:ln w="12700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3101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3291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真实数据落盘示例（data.json 实测）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3547745"/>
            <a:ext cx="5120640" cy="1190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8E8EC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50" b="0">
              <a:solidFill>
                <a:srgbClr val="E8E8EC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8E8EC"/>
                </a:solidFill>
                <a:latin typeface="Consolas" panose="020B0609020204030204"/>
                <a:ea typeface="Consolas" panose="020B0609020204030204"/>
              </a:rPr>
              <a:t>  "user": "金润山",   "klass": "计算机2504"</a:t>
            </a:r>
            <a:endParaRPr sz="1150" b="0">
              <a:solidFill>
                <a:srgbClr val="E8E8EC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8E8EC"/>
                </a:solidFill>
                <a:latin typeface="Consolas" panose="020B0609020204030204"/>
                <a:ea typeface="Consolas" panose="020B0609020204030204"/>
              </a:rPr>
              <a:t>  "form": "起势"</a:t>
            </a:r>
            <a:endParaRPr sz="1150" b="0">
              <a:solidFill>
                <a:srgbClr val="E8E8EC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B8312F"/>
                </a:solidFill>
                <a:latin typeface="Consolas" panose="020B0609020204030204"/>
                <a:ea typeface="Consolas" panose="020B0609020204030204"/>
              </a:rPr>
              <a:t>  "score": 6</a:t>
            </a:r>
            <a:endParaRPr sz="1150" b="0">
              <a:solidFill>
                <a:srgbClr val="B8312F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C4A35A"/>
                </a:solidFill>
                <a:latin typeface="Consolas" panose="020B0609020204030204"/>
                <a:ea typeface="Consolas" panose="020B0609020204030204"/>
              </a:rPr>
              <a:t>  "realm": "入门"</a:t>
            </a:r>
            <a:endParaRPr sz="1150" b="0">
              <a:solidFill>
                <a:srgbClr val="C4A35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8E8EC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50" b="0">
              <a:solidFill>
                <a:srgbClr val="E8E8E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0" y="36576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用户金润山完成「起势」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得分 6 · 境界「入门」</a:t>
            </a:r>
            <a:endParaRPr sz="11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分数完全由训练驱动，从零累积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协作与工具链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双 AI 协作开发 + Figma 写入工具链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228600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Claude Code · 裁决者 + 代码引擎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1847088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架构设计与技术决策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HTML/CSS/JS 代码编写与修改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Bug 定位与修复方案制定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Figma 设计稿写入（figma-designer-mcp）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任务编排与最终质量审核裁决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2286000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5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OpenClaw · 特种兵 + 感官系统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92040" y="1847088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浏览器操作与页面截图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CDP 协议 DOM 实时调试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视觉审查与布局问题发现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字体 / 素材管理与安装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▸ 主动发现并上报问题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8046720" cy="82296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 w="12700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904487"/>
            <a:ext cx="41148" cy="23774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886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Figma 写入工具链与协作闭环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Claude Code 改代码 / 画 Figma → OpenClaw 截图审查 → 发现问题 → Claude Code 修复 → OpenClaw 再确认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figma-designer-mcp + AI Figma Designer 插件（ws://127.0.0.1:3055）· 直写当前打开文件</a:t>
            </a:r>
            <a:endParaRPr sz="95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待办事项与路线图 · P0 / P1 / P2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0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2578608" cy="301752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solidFill>
              <a:srgbClr val="C4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81328"/>
            <a:ext cx="658368" cy="384048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72768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endParaRPr sz="14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81328" y="151790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最高优先级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确认 Figma 首页重画效果（环形对齐 / 布局）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卡片阴影在 Figma 手动补充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铺开数字教案库（课程列表→招式详情→3D查看→分步教学）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B 方案：真实 AI 评分替换 /api/training 给分逻辑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73552" y="1325880"/>
            <a:ext cx="2578608" cy="301752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solidFill>
              <a:srgbClr val="B831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6432" y="1481328"/>
            <a:ext cx="658368" cy="384048"/>
          </a:xfrm>
          <a:prstGeom prst="roundRect">
            <a:avLst>
              <a:gd name="adj" fmla="val 20000"/>
            </a:avLst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572768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14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6240" y="151790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次优先级</a:t>
            </a:r>
            <a:endParaRPr sz="12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432" y="210312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3D 动作素材嵌入（三维设计师，第 8-9 周，先视频/GIF 占位）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视觉设计师 UI 高保真输出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98464" y="1325880"/>
            <a:ext cx="2578608" cy="301752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solidFill>
              <a:srgbClr val="6F6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481328"/>
            <a:ext cx="658368" cy="384048"/>
          </a:xfrm>
          <a:prstGeom prst="roundRect">
            <a:avLst>
              <a:gd name="adj" fmla="val 20000"/>
            </a:avLst>
          </a:prstGeom>
          <a:solidFill>
            <a:srgbClr val="6F6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1572768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P2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31152" y="151790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F6F79"/>
                </a:solidFill>
                <a:latin typeface="微软雅黑" panose="020B0503020204020204" charset="-122"/>
                <a:ea typeface="微软雅黑" panose="020B0503020204020204" charset="-122"/>
              </a:rPr>
              <a:t>后续</a:t>
            </a:r>
            <a:endParaRPr sz="1200" b="1">
              <a:solidFill>
                <a:srgbClr val="6F6F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81344" y="210312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html.to.design 批量导入（有代理后启用）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响应式多端适配与性能优化</a:t>
            </a:r>
            <a:endParaRPr sz="105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-1005840"/>
            <a:ext cx="3840480" cy="3840480"/>
          </a:xfrm>
          <a:prstGeom prst="ellipse">
            <a:avLst/>
          </a:prstGeom>
          <a:noFill/>
          <a:ln w="15240">
            <a:solidFill>
              <a:srgbClr val="2A2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9359" y="2468880"/>
            <a:ext cx="3108960" cy="3108960"/>
          </a:xfrm>
          <a:prstGeom prst="ellipse">
            <a:avLst/>
          </a:prstGeom>
          <a:noFill/>
          <a:ln w="15240">
            <a:solidFill>
              <a:srgbClr val="2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感谢观看</a:t>
            </a:r>
            <a:endParaRPr sz="5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60520" y="2560320"/>
            <a:ext cx="822960" cy="4114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智承太极 · 数字教学与交互展示系统</a:t>
            </a:r>
            <a:endParaRPr sz="20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全国建模精英联赛参赛项目</a:t>
            </a:r>
            <a:endParaRPr sz="14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汇报人：金润山  ·  2026年8月</a:t>
            </a:r>
            <a:endParaRPr sz="13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由 Claude Code + OpenClaw 双 AI 协作系统驱动开发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3927</Words>
  <Application>WPS 演示</Application>
  <PresentationFormat>On-screen Show (4:3)</PresentationFormat>
  <Paragraphs>445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金润山</cp:lastModifiedBy>
  <cp:revision>3</cp:revision>
  <dcterms:created xsi:type="dcterms:W3CDTF">2013-01-27T09:14:00Z</dcterms:created>
  <dcterms:modified xsi:type="dcterms:W3CDTF">2026-08-12T10:00:22Z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993AE4B571284F9C8F2F75ED768B4536_12</vt:lpwstr>
  </property>
  <property fmtid="{D5CDD505-2E9C-101B-9397-08002B2CF9AE}" pid="3" name="KSOProductBuildVer">
    <vt:lpwstr>2052-12.1.0.23542</vt:lpwstr>
  </property>
</Properties>
</file>