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1365" cy="6858000" type="screen4x3"/>
  <p:notesSz cx="6858000" cy="9144000"/>
  <p:embeddedFontLst>
    <p:embeddedFont>
      <p:font typeface="Noto Serif SC" panose="02020200000000000000" charset="-122"/>
      <p:regular r:id="rId17"/>
    </p:embeddedFont>
    <p:embeddedFont>
      <p:font typeface="微软雅黑" panose="020B0503020204020204" charset="-122"/>
      <p:regular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  <p:embeddedFont>
      <p:font typeface="仓耳渔阳体 W05" panose="02020400000000000000" charset="-128"/>
      <p:regular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3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54864" cy="2926080"/>
          </a:xfrm>
          <a:prstGeom prst="rect">
            <a:avLst/>
          </a:prstGeom>
          <a:solidFill>
            <a:srgbClr val="B83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6000" b="1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</a:rPr>
              <a:t>智承太极</a:t>
            </a:r>
            <a:endParaRPr sz="6000" b="1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6304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数字教学与交互展示系统</a:t>
            </a:r>
            <a:endParaRPr sz="2800" b="0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1463040" y="3200400"/>
            <a:ext cx="2194560" cy="0"/>
          </a:xfrm>
          <a:prstGeom prst="line">
            <a:avLst/>
          </a:prstGeom>
          <a:ln w="19050">
            <a:solidFill>
              <a:srgbClr val="C4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63040" y="3429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全国建模精英联赛参赛项目  ·  项目开发工作汇报</a:t>
            </a:r>
            <a:endParaRPr sz="16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7315200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汇报日期：2026年7月30日  |  工作日期：2026年7月</a:t>
            </a:r>
            <a:r>
              <a:rPr lang="en-US" sz="12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r>
              <a:rPr lang="zh-CN" altLang="en-US" sz="12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日</a:t>
            </a:r>
            <a:endParaRPr lang="zh-CN" altLang="en-US" sz="12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3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1 / 12</a:t>
            </a:r>
            <a:endParaRPr sz="9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3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685800"/>
            <a:ext cx="731520" cy="0"/>
          </a:xfrm>
          <a:prstGeom prst="line">
            <a:avLst/>
          </a:prstGeom>
          <a:ln w="38100">
            <a:solidFill>
              <a:srgbClr val="B831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54480" y="502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项目概览</a:t>
            </a:r>
            <a:endParaRPr sz="11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立足传统武术，融合数字技术，打造沉浸式太极教学体验</a:t>
            </a:r>
            <a:endParaRPr sz="18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651760" cy="2011680"/>
          </a:xfrm>
          <a:prstGeom prst="roundRect">
            <a:avLst/>
          </a:prstGeom>
          <a:solidFill>
            <a:srgbClr val="161D25"/>
          </a:solidFill>
          <a:ln w="6350">
            <a:solidFill>
              <a:srgbClr val="2A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项目全称</a:t>
            </a:r>
            <a:endParaRPr sz="11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智承太极 — 数字教学
与交互展示系统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566160" y="2011680"/>
            <a:ext cx="2651760" cy="2011680"/>
          </a:xfrm>
          <a:prstGeom prst="roundRect">
            <a:avLst/>
          </a:prstGeom>
          <a:solidFill>
            <a:srgbClr val="161D25"/>
          </a:solidFill>
          <a:ln w="6350">
            <a:solidFill>
              <a:srgbClr val="2A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286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参赛赛事</a:t>
            </a:r>
            <a:endParaRPr sz="11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0480" y="26974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全国建模精英联赛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2651760" cy="2011680"/>
          </a:xfrm>
          <a:prstGeom prst="roundRect">
            <a:avLst/>
          </a:prstGeom>
          <a:solidFill>
            <a:srgbClr val="161D25"/>
          </a:solidFill>
          <a:ln w="6350">
            <a:solidFill>
              <a:srgbClr val="2A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286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技术栈</a:t>
            </a:r>
            <a:endParaRPr sz="11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5120" y="26974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HTML / CSS / JavaScript
纯前端单页应用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235440" y="2011680"/>
            <a:ext cx="2651760" cy="2011680"/>
          </a:xfrm>
          <a:prstGeom prst="roundRect">
            <a:avLst/>
          </a:prstGeom>
          <a:solidFill>
            <a:srgbClr val="161D25"/>
          </a:solidFill>
          <a:ln w="6350">
            <a:solidFill>
              <a:srgbClr val="2A2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2286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设计语言</a:t>
            </a:r>
            <a:endParaRPr sz="11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509760" y="26974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Ink-Tech Fusion
水墨 · 科技融合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1520" y="4389120"/>
            <a:ext cx="10698480" cy="54864"/>
          </a:xfrm>
          <a:prstGeom prst="rect">
            <a:avLst/>
          </a:prstGeom>
          <a:solidFill>
            <a:srgbClr val="2A2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548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3,672行</a:t>
            </a:r>
            <a:endParaRPr sz="36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代码规模</a:t>
            </a:r>
            <a:endParaRPr sz="11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51760" y="47548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144KB</a:t>
            </a:r>
            <a:endParaRPr sz="36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5176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主文件大小</a:t>
            </a:r>
            <a:endParaRPr sz="11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0" y="4754880"/>
            <a:ext cx="1645920" cy="1419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sz="36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杨氏</a:t>
            </a:r>
            <a:r>
              <a:rPr sz="36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16式</a:t>
            </a:r>
            <a:endParaRPr sz="36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太极拳招式</a:t>
            </a:r>
            <a:endParaRPr sz="11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92240" y="47548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11个</a:t>
            </a:r>
            <a:endParaRPr sz="36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9224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教学视频</a:t>
            </a:r>
            <a:endParaRPr sz="11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12480" y="47548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4轮</a:t>
            </a:r>
            <a:endParaRPr sz="36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1248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截图审查</a:t>
            </a:r>
            <a:endParaRPr sz="11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332720" y="4754880"/>
            <a:ext cx="1645920" cy="755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6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sz="36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endParaRPr sz="36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33272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Bug修复</a:t>
            </a:r>
            <a:endParaRPr sz="11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2 / 12</a:t>
            </a:r>
            <a:endParaRPr sz="9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3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685800"/>
            <a:ext cx="731520" cy="0"/>
          </a:xfrm>
          <a:prstGeom prst="line">
            <a:avLst/>
          </a:prstGeom>
          <a:ln w="38100">
            <a:solidFill>
              <a:srgbClr val="B831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54480" y="502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设计体系</a:t>
            </a:r>
            <a:endParaRPr sz="11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A1A1A"/>
                </a:solidFill>
                <a:latin typeface="Noto Serif SC" panose="02020200000000000000" charset="-122"/>
                <a:ea typeface="Noto Serif SC" panose="02020200000000000000" charset="-122"/>
              </a:rPr>
              <a:t>Ink-Tech Fusion — 水墨·科技融合设计语言</a:t>
            </a:r>
            <a:endParaRPr sz="2200" b="1">
              <a:solidFill>
                <a:srgbClr val="1A1A1A"/>
              </a:solidFill>
              <a:latin typeface="Noto Serif SC" panose="02020200000000000000" charset="-122"/>
              <a:ea typeface="Noto Serif SC" panose="0202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配色方案</a:t>
            </a:r>
            <a:endParaRPr sz="15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645920" cy="1097280"/>
          </a:xfrm>
          <a:prstGeom prst="round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#0F1419</a:t>
            </a:r>
            <a:endParaRPr sz="10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深墨底色</a:t>
            </a:r>
            <a:endParaRPr sz="9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651760" y="2194560"/>
            <a:ext cx="1645920" cy="1097280"/>
          </a:xfrm>
          <a:prstGeom prst="roundRect">
            <a:avLst/>
          </a:prstGeom>
          <a:solidFill>
            <a:srgbClr val="F5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3383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#F5F2ED</a:t>
            </a:r>
            <a:endParaRPr sz="10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51760" y="3611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暖白主底</a:t>
            </a:r>
            <a:endParaRPr sz="9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0" y="2194560"/>
            <a:ext cx="1645920" cy="1097280"/>
          </a:xfrm>
          <a:prstGeom prst="roundRect">
            <a:avLst/>
          </a:prstGeom>
          <a:solidFill>
            <a:srgbClr val="B83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383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#B8312F</a:t>
            </a:r>
            <a:endParaRPr sz="10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3611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朱红强调</a:t>
            </a:r>
            <a:endParaRPr sz="9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92240" y="2194560"/>
            <a:ext cx="1645920" cy="1097280"/>
          </a:xfrm>
          <a:prstGeom prst="round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383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#C4A35A</a:t>
            </a:r>
            <a:endParaRPr sz="10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92240" y="3611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金色点缀</a:t>
            </a:r>
            <a:endParaRPr sz="9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412480" y="2194560"/>
            <a:ext cx="16459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383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#FFFFFF</a:t>
            </a:r>
            <a:endParaRPr sz="10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12480" y="3611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卡片表面</a:t>
            </a:r>
            <a:endParaRPr sz="9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332720" y="2194560"/>
            <a:ext cx="1645920" cy="1097280"/>
          </a:xfrm>
          <a:prstGeom prst="roundRect">
            <a:avLst/>
          </a:prstGeom>
          <a:solidFill>
            <a:srgbClr val="7A7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0" y="3383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#7A756D</a:t>
            </a:r>
            <a:endParaRPr sz="10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332720" y="3611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辅助文字</a:t>
            </a:r>
            <a:endParaRPr sz="9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字体层级</a:t>
            </a:r>
            <a:endParaRPr sz="15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31520" y="4663440"/>
            <a:ext cx="10698480" cy="347472"/>
          </a:xfrm>
          <a:prstGeom prst="rect">
            <a:avLst/>
          </a:prstGeom>
          <a:solidFill>
            <a:srgbClr val="F5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681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Page Title</a:t>
            </a:r>
            <a:endParaRPr sz="11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834640" y="46817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Noto Serif SC 24px Bold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32320" y="46817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思源宋体</a:t>
            </a:r>
            <a:endParaRPr sz="10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31520" y="5047488"/>
            <a:ext cx="10698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0657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Card Title</a:t>
            </a:r>
            <a:endParaRPr sz="11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34640" y="50657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Microsoft YaHei 16px Semibold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32320" y="50657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微软雅黑</a:t>
            </a:r>
            <a:endParaRPr sz="10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31520" y="5431536"/>
            <a:ext cx="10698480" cy="347472"/>
          </a:xfrm>
          <a:prstGeom prst="rect">
            <a:avLst/>
          </a:prstGeom>
          <a:solidFill>
            <a:srgbClr val="F5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4498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Body</a:t>
            </a:r>
            <a:endParaRPr sz="11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834640" y="54498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Microsoft YaHei 14px Regular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132320" y="54498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微软雅黑</a:t>
            </a:r>
            <a:endParaRPr sz="10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31520" y="5815583"/>
            <a:ext cx="106984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83387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Nav Label</a:t>
            </a:r>
            <a:endParaRPr sz="11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834640" y="583387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Microsoft YaHei 11px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32320" y="583387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微软雅黑</a:t>
            </a:r>
            <a:endParaRPr sz="10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31520" y="6199631"/>
            <a:ext cx="10698480" cy="347472"/>
          </a:xfrm>
          <a:prstGeom prst="rect">
            <a:avLst/>
          </a:prstGeom>
          <a:solidFill>
            <a:srgbClr val="F5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62179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Caption</a:t>
            </a:r>
            <a:endParaRPr sz="11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834640" y="621791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Microsoft YaHei 12px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132320" y="621791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微软雅黑</a:t>
            </a:r>
            <a:endParaRPr sz="10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3 / 12</a:t>
            </a:r>
            <a:endParaRPr sz="9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3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685800"/>
            <a:ext cx="731520" cy="0"/>
          </a:xfrm>
          <a:prstGeom prst="line">
            <a:avLst/>
          </a:prstGeom>
          <a:ln w="38100">
            <a:solidFill>
              <a:srgbClr val="B831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54480" y="502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产品架构</a:t>
            </a:r>
            <a:endParaRPr sz="11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用户旅程与页面架构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508760" y="2194560"/>
            <a:ext cx="502920" cy="502920"/>
          </a:xfrm>
          <a:prstGeom prst="ellipse">
            <a:avLst/>
          </a:prstGeom>
          <a:solidFill>
            <a:srgbClr val="B8312F"/>
          </a:solidFill>
          <a:ln w="25400">
            <a:solidFill>
              <a:srgbClr val="B83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2103120" y="2446020"/>
            <a:ext cx="731520" cy="0"/>
          </a:xfrm>
          <a:prstGeom prst="line">
            <a:avLst/>
          </a:prstGeom>
          <a:ln w="25400">
            <a:solidFill>
              <a:srgbClr val="B831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29260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首页
Dashboard</a:t>
            </a:r>
            <a:endParaRPr sz="11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3840479" y="2176145"/>
            <a:ext cx="502920" cy="502920"/>
          </a:xfrm>
          <a:prstGeom prst="ellipse">
            <a:avLst/>
          </a:prstGeom>
          <a:solidFill>
            <a:srgbClr val="161D25"/>
          </a:solidFill>
          <a:ln w="25400">
            <a:solidFill>
              <a:srgbClr val="B83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4434839" y="2446020"/>
            <a:ext cx="731520" cy="0"/>
          </a:xfrm>
          <a:prstGeom prst="line">
            <a:avLst/>
          </a:prstGeom>
          <a:ln w="25400">
            <a:solidFill>
              <a:srgbClr val="B831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54679" y="29260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课程列表
16式总览</a:t>
            </a:r>
            <a:endParaRPr sz="11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172199" y="2194560"/>
            <a:ext cx="502920" cy="502920"/>
          </a:xfrm>
          <a:prstGeom prst="ellipse">
            <a:avLst/>
          </a:prstGeom>
          <a:solidFill>
            <a:srgbClr val="161D25"/>
          </a:solidFill>
          <a:ln w="25400">
            <a:solidFill>
              <a:srgbClr val="B83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6766559" y="2446020"/>
            <a:ext cx="731520" cy="0"/>
          </a:xfrm>
          <a:prstGeom prst="line">
            <a:avLst/>
          </a:prstGeom>
          <a:ln w="25400">
            <a:solidFill>
              <a:srgbClr val="B831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399" y="29260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课程概览
招式预览</a:t>
            </a:r>
            <a:endParaRPr sz="11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503919" y="2194560"/>
            <a:ext cx="502920" cy="502920"/>
          </a:xfrm>
          <a:prstGeom prst="ellipse">
            <a:avLst/>
          </a:prstGeom>
          <a:solidFill>
            <a:srgbClr val="161D25"/>
          </a:solidFill>
          <a:ln w="25400">
            <a:solidFill>
              <a:srgbClr val="B83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9098279" y="2446020"/>
            <a:ext cx="731520" cy="0"/>
          </a:xfrm>
          <a:prstGeom prst="line">
            <a:avLst/>
          </a:prstGeom>
          <a:ln w="25400">
            <a:solidFill>
              <a:srgbClr val="B831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818119" y="29260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招式详情
动作数据</a:t>
            </a:r>
            <a:endParaRPr sz="11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0835640" y="2194560"/>
            <a:ext cx="502920" cy="502920"/>
          </a:xfrm>
          <a:prstGeom prst="ellipse">
            <a:avLst/>
          </a:prstGeom>
          <a:solidFill>
            <a:srgbClr val="161D25"/>
          </a:solidFill>
          <a:ln w="25400">
            <a:solidFill>
              <a:srgbClr val="B83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149840" y="29260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分步教学
逐帧学习</a:t>
            </a:r>
            <a:endParaRPr sz="11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页面模块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2651760" cy="1188720"/>
          </a:xfrm>
          <a:prstGeom prst="roundRect">
            <a:avLst/>
          </a:prstGeom>
          <a:solidFill>
            <a:srgbClr val="161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389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侧边栏导航</a:t>
            </a:r>
            <a:endParaRPr sz="13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0120" y="4800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全局导航 · 深色底色 · 图标+文字</a:t>
            </a:r>
            <a:endParaRPr sz="10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566160" y="4206240"/>
            <a:ext cx="2651760" cy="1188720"/>
          </a:xfrm>
          <a:prstGeom prst="roundRect">
            <a:avLst/>
          </a:prstGeom>
          <a:solidFill>
            <a:srgbClr val="161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4389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内容主区域</a:t>
            </a:r>
            <a:endParaRPr sz="13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794760" y="4800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弹性布局 · 卡片式内容 · 自定义滚动条</a:t>
            </a:r>
            <a:endParaRPr sz="10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0" y="4206240"/>
            <a:ext cx="2651760" cy="1188720"/>
          </a:xfrm>
          <a:prstGeom prst="roundRect">
            <a:avLst/>
          </a:prstGeom>
          <a:solidFill>
            <a:srgbClr val="161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4389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Toast通知</a:t>
            </a:r>
            <a:endParaRPr sz="13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29400" y="4800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操作反馈 · 成功/警告/错误 · 自动消失</a:t>
            </a:r>
            <a:endParaRPr sz="10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235440" y="4206240"/>
            <a:ext cx="2651760" cy="1188720"/>
          </a:xfrm>
          <a:prstGeom prst="roundRect">
            <a:avLst/>
          </a:prstGeom>
          <a:solidFill>
            <a:srgbClr val="161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64040" y="4389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搜索筛选</a:t>
            </a:r>
            <a:endParaRPr sz="13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464040" y="4800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关键词搜索 · 分类过滤 · 实时结果</a:t>
            </a:r>
            <a:endParaRPr sz="10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31520" y="5669280"/>
            <a:ext cx="10698480" cy="36576"/>
          </a:xfrm>
          <a:prstGeom prst="rect">
            <a:avLst/>
          </a:prstGeom>
          <a:solidFill>
            <a:srgbClr val="2A2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3D8B37"/>
                </a:solidFill>
                <a:latin typeface="微软雅黑" panose="020B0503020204020204" charset="-122"/>
                <a:ea typeface="微软雅黑" panose="020B0503020204020204" charset="-122"/>
              </a:rPr>
              <a:t>全链路状态：✅ 首页→课程列表→课程概览→招式详情→分步教学 — 100% 跑通</a:t>
            </a:r>
            <a:endParaRPr sz="1100" b="0">
              <a:solidFill>
                <a:srgbClr val="3D8B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4 / 12</a:t>
            </a:r>
            <a:endParaRPr sz="9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3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685800"/>
            <a:ext cx="731520" cy="0"/>
          </a:xfrm>
          <a:prstGeom prst="line">
            <a:avLst/>
          </a:prstGeom>
          <a:ln w="38100">
            <a:solidFill>
              <a:srgbClr val="B831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54480" y="502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功能详解</a:t>
            </a:r>
            <a:endParaRPr sz="11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97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核心功能实现</a:t>
            </a:r>
            <a:endParaRPr sz="2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651760" cy="3474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2651760" cy="54864"/>
          </a:xfrm>
          <a:prstGeom prst="rect">
            <a:avLst/>
          </a:prstGeom>
          <a:solidFill>
            <a:srgbClr val="3D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面包屑导航</a:t>
            </a:r>
            <a:endParaRPr sz="16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层级路径实时显示
支持点击任意级跳转
与页面状态双向绑定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66160" y="2011680"/>
            <a:ext cx="2651760" cy="3474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011680"/>
            <a:ext cx="2651760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377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布局系统</a:t>
            </a:r>
            <a:endParaRPr sz="16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0" y="306324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侧边栏232px定宽
主内容区弹性填充
CSS Grid / Flex混合布局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2651760" cy="3474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011680"/>
            <a:ext cx="2651760" cy="54864"/>
          </a:xfrm>
          <a:prstGeom prst="rect">
            <a:avLst/>
          </a:prstGeom>
          <a:solidFill>
            <a:srgbClr val="B83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377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自定义滚动条</a:t>
            </a:r>
            <a:endParaRPr sz="16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75120" y="306324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6px宽度统一风格
Thumb圆角匹配设计
透明轨道无侵入感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235440" y="2011680"/>
            <a:ext cx="2651760" cy="3474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2011680"/>
            <a:ext cx="2651760" cy="54864"/>
          </a:xfrm>
          <a:prstGeom prst="rect">
            <a:avLst/>
          </a:prstGeom>
          <a:solidFill>
            <a:srgbClr val="3A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377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16式动作数据</a:t>
            </a:r>
            <a:endParaRPr sz="16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509760" y="3063240"/>
            <a:ext cx="2103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完整招式名称/分解
动作要领/呼吸节奏
结构化JSON驱动渲染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0 / 12</a:t>
            </a:r>
            <a:endParaRPr sz="9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3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685800"/>
            <a:ext cx="731520" cy="0"/>
          </a:xfrm>
          <a:prstGeom prst="line">
            <a:avLst/>
          </a:prstGeom>
          <a:ln w="38100">
            <a:solidFill>
              <a:srgbClr val="B831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54480" y="502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协作模式</a:t>
            </a:r>
            <a:endParaRPr sz="11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双 AI 协作开发模式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330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双 AI 分工协作开发流程，代码引擎 + 感官系统各司其职</a:t>
            </a:r>
            <a:endParaRPr sz="13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212080" cy="3474720"/>
          </a:xfrm>
          <a:prstGeom prst="roundRect">
            <a:avLst/>
          </a:prstGeom>
          <a:solidFill>
            <a:srgbClr val="161D25"/>
          </a:solidFill>
          <a:ln w="19050">
            <a:solidFill>
              <a:srgbClr val="B83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2286000"/>
            <a:ext cx="5212080" cy="3474720"/>
          </a:xfrm>
          <a:prstGeom prst="roundRect">
            <a:avLst/>
          </a:prstGeom>
          <a:solidFill>
            <a:srgbClr val="161D25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60320"/>
            <a:ext cx="4572000" cy="607695"/>
          </a:xfrm>
          <a:prstGeom prst="rect">
            <a:avLst/>
          </a:prstGeom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>
                <a:solidFill>
                  <a:schemeClr val="bg1"/>
                </a:solidFill>
                <a:latin typeface="仓耳渔阳体 W05" panose="02020400000000000000" charset="-128"/>
                <a:ea typeface="仓耳渔阳体 W05" panose="02020400000000000000" charset="-128"/>
                <a:sym typeface="+mn-ea"/>
              </a:rPr>
              <a:t>Claude Code</a:t>
            </a:r>
            <a:endParaRPr sz="2800" b="1">
              <a:solidFill>
                <a:schemeClr val="bg1"/>
              </a:solidFill>
              <a:latin typeface="仓耳渔阳体 W05" panose="02020400000000000000" charset="-128"/>
              <a:ea typeface="仓耳渔阳体 W05" panose="02020400000000000000" charset="-128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Claude Code · 裁决者 + 代码引擎</a:t>
            </a:r>
            <a:endParaRPr sz="1300" b="0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8016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▸ 架构设计与技术决策</a:t>
            </a:r>
            <a:endParaRPr sz="12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0160" y="404228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▸ HTML/CSS/JS 代码编写与修改</a:t>
            </a:r>
            <a:endParaRPr sz="12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80160" y="44256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▸ Bug 定位与修复方案制定</a:t>
            </a:r>
            <a:endParaRPr sz="12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80160" y="48097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▸ 任务编排与进度管理</a:t>
            </a:r>
            <a:endParaRPr sz="12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51937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▸ 最终质量审核与裁决</a:t>
            </a:r>
            <a:endParaRPr sz="12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75120" y="2560320"/>
            <a:ext cx="4572000" cy="607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>
                <a:solidFill>
                  <a:schemeClr val="bg1"/>
                </a:solidFill>
                <a:latin typeface="仓耳渔阳体 W05" panose="02020400000000000000" charset="-128"/>
                <a:ea typeface="仓耳渔阳体 W05" panose="02020400000000000000" charset="-128"/>
                <a:sym typeface="+mn-ea"/>
              </a:rPr>
              <a:t>OpenClaw</a:t>
            </a:r>
            <a:endParaRPr sz="2800" b="1">
              <a:solidFill>
                <a:schemeClr val="bg1"/>
              </a:solidFill>
              <a:latin typeface="仓耳渔阳体 W05" panose="02020400000000000000" charset="-128"/>
              <a:ea typeface="仓耳渔阳体 W05" panose="02020400000000000000" charset="-128"/>
              <a:sym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7512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OpenClaw Agent · 特种兵 + 感官系统</a:t>
            </a:r>
            <a:endParaRPr sz="1300" b="0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▸ 浏览器操作与页面截图</a:t>
            </a:r>
            <a:endParaRPr sz="12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0" y="40416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▸ CDP 协议 DOM 实时调试</a:t>
            </a:r>
            <a:endParaRPr sz="12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0" y="44256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▸ 视觉审查与布局问题发现</a:t>
            </a:r>
            <a:endParaRPr sz="12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0" y="48097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▸ 字体/素材管理与安装</a:t>
            </a:r>
            <a:endParaRPr sz="12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0" y="51937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▸ 主动发现并上报问题</a:t>
            </a:r>
            <a:endParaRPr sz="12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1520" y="5751195"/>
            <a:ext cx="10698480" cy="11518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200" b="0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1200" b="0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协作闭环：</a:t>
            </a:r>
            <a:r>
              <a:rPr sz="1200">
                <a:solidFill>
                  <a:schemeClr val="bg1"/>
                </a:solidFill>
                <a:latin typeface="仓耳渔阳体 W05" panose="02020400000000000000" charset="-128"/>
                <a:ea typeface="仓耳渔阳体 W05" panose="02020400000000000000" charset="-128"/>
                <a:sym typeface="+mn-ea"/>
              </a:rPr>
              <a:t>Claude Code</a:t>
            </a:r>
            <a:endParaRPr sz="1200" b="1">
              <a:solidFill>
                <a:schemeClr val="bg1"/>
              </a:solidFill>
              <a:latin typeface="仓耳渔阳体 W05" panose="02020400000000000000" charset="-128"/>
              <a:ea typeface="仓耳渔阳体 W05" panose="02020400000000000000" charset="-128"/>
              <a:sym typeface="+mn-ea"/>
            </a:endParaRP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改代码 → </a:t>
            </a:r>
            <a:r>
              <a:rPr sz="1200">
                <a:solidFill>
                  <a:schemeClr val="bg1"/>
                </a:solidFill>
                <a:latin typeface="仓耳渔阳体 W05" panose="02020400000000000000" charset="-128"/>
                <a:ea typeface="仓耳渔阳体 W05" panose="02020400000000000000" charset="-128"/>
                <a:sym typeface="+mn-ea"/>
              </a:rPr>
              <a:t>OpenClaw</a:t>
            </a:r>
            <a:endParaRPr sz="1200" b="1">
              <a:solidFill>
                <a:schemeClr val="bg1"/>
              </a:solidFill>
              <a:latin typeface="仓耳渔阳体 W05" panose="02020400000000000000" charset="-128"/>
              <a:ea typeface="仓耳渔阳体 W05" panose="02020400000000000000" charset="-128"/>
              <a:sym typeface="+mn-ea"/>
            </a:endParaRP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截图审查 → 发现问题 → </a:t>
            </a:r>
            <a:r>
              <a:rPr sz="1200">
                <a:solidFill>
                  <a:schemeClr val="bg1"/>
                </a:solidFill>
                <a:latin typeface="仓耳渔阳体 W05" panose="02020400000000000000" charset="-128"/>
                <a:ea typeface="仓耳渔阳体 W05" panose="02020400000000000000" charset="-128"/>
                <a:sym typeface="+mn-ea"/>
              </a:rPr>
              <a:t>Claude Code</a:t>
            </a:r>
            <a:endParaRPr sz="1200" b="1">
              <a:solidFill>
                <a:schemeClr val="bg1"/>
              </a:solidFill>
              <a:latin typeface="仓耳渔阳体 W05" panose="02020400000000000000" charset="-128"/>
              <a:ea typeface="仓耳渔阳体 W05" panose="02020400000000000000" charset="-128"/>
              <a:sym typeface="+mn-ea"/>
            </a:endParaRP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修复 → </a:t>
            </a:r>
            <a:r>
              <a:rPr sz="1200">
                <a:solidFill>
                  <a:schemeClr val="bg1"/>
                </a:solidFill>
                <a:latin typeface="仓耳渔阳体 W05" panose="02020400000000000000" charset="-128"/>
                <a:ea typeface="仓耳渔阳体 W05" panose="02020400000000000000" charset="-128"/>
                <a:sym typeface="+mn-ea"/>
              </a:rPr>
              <a:t>OpenClaw</a:t>
            </a:r>
            <a:endParaRPr sz="1200" b="1">
              <a:solidFill>
                <a:schemeClr val="bg1"/>
              </a:solidFill>
              <a:latin typeface="仓耳渔阳体 W05" panose="02020400000000000000" charset="-128"/>
              <a:ea typeface="仓耳渔阳体 W05" panose="02020400000000000000" charset="-128"/>
              <a:sym typeface="+mn-ea"/>
            </a:endParaRP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再确认</a:t>
            </a:r>
            <a:endParaRPr sz="1200" b="0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7 / 12</a:t>
            </a:r>
            <a:endParaRPr sz="9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3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685800"/>
            <a:ext cx="731520" cy="0"/>
          </a:xfrm>
          <a:prstGeom prst="line">
            <a:avLst/>
          </a:prstGeom>
          <a:ln w="38100">
            <a:solidFill>
              <a:srgbClr val="B831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54480" y="502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质量保障</a:t>
            </a:r>
            <a:endParaRPr sz="11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Bug 发现与修复流程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2011680"/>
          </a:xfrm>
          <a:prstGeom prst="roundRect">
            <a:avLst/>
          </a:prstGeom>
          <a:solidFill>
            <a:srgbClr val="161D25"/>
          </a:solidFill>
          <a:ln w="12700">
            <a:solidFill>
              <a:srgbClr val="9E2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BUG #1</a:t>
            </a:r>
            <a:endParaRPr sz="14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分步教学页标题和面包屑一直显示“单鞭”/“第三式”，不随招式切换更新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0160" y="3154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原因定位</a:t>
            </a:r>
            <a:endParaRPr sz="11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60320" y="3154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updateStepUIForForm() 函数未更新页面标题和面包屑元素</a:t>
            </a:r>
            <a:endParaRPr sz="11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80160" y="34290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修复方案</a:t>
            </a:r>
            <a:endParaRPr sz="11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60320" y="3429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在 updateStepUIForForm() 中补充标题和面包屑的 DOM 更新逻辑</a:t>
            </a:r>
            <a:endParaRPr sz="11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80160" y="37033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验证结果</a:t>
            </a:r>
            <a:endParaRPr sz="11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60320" y="3703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截图验证通过 ✅  taiji_3_v2 / taiji_4_v2 确认修复</a:t>
            </a:r>
            <a:endParaRPr sz="11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10698480" cy="1828800"/>
          </a:xfrm>
          <a:prstGeom prst="roundRect">
            <a:avLst/>
          </a:prstGeom>
          <a:solidFill>
            <a:srgbClr val="161D25"/>
          </a:solidFill>
          <a:ln w="1270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4850A"/>
                </a:solidFill>
                <a:latin typeface="微软雅黑" panose="020B0503020204020204" charset="-122"/>
                <a:ea typeface="微软雅黑" panose="020B0503020204020204" charset="-122"/>
              </a:rPr>
              <a:t>BUG #2</a:t>
            </a:r>
            <a:endParaRPr sz="1400" b="1">
              <a:solidFill>
                <a:srgbClr val="D485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" y="48463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分步教学页右侧要点区宽度异常 + 底部约 480px 空白区域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80160" y="5394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原因定位</a:t>
            </a:r>
            <a:endParaRPr sz="11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60320" y="5394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弹性布局容器的宽度计算问题 + 底部意外留白</a:t>
            </a:r>
            <a:endParaRPr sz="11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80160" y="56692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修复方案</a:t>
            </a:r>
            <a:endParaRPr sz="11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0320" y="5669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CSS 布局调整，修正 Flex 容器宽度和底部留白</a:t>
            </a:r>
            <a:endParaRPr sz="11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80160" y="594359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验证结果</a:t>
            </a:r>
            <a:endParaRPr sz="11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60320" y="594359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第二轮截图确认修复 ✅</a:t>
            </a:r>
            <a:endParaRPr sz="11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8 / 12</a:t>
            </a:r>
            <a:endParaRPr sz="9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3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685800"/>
            <a:ext cx="731520" cy="0"/>
          </a:xfrm>
          <a:prstGeom prst="line">
            <a:avLst/>
          </a:prstGeom>
          <a:ln w="38100">
            <a:solidFill>
              <a:srgbClr val="B831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54480" y="502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素材与数据</a:t>
            </a:r>
            <a:endParaRPr sz="11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项目资产全景</a:t>
            </a:r>
            <a:endParaRPr sz="2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52044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64008" cy="2057400"/>
          </a:xfrm>
          <a:prstGeom prst="rect">
            <a:avLst/>
          </a:prstGeom>
          <a:solidFill>
            <a:srgbClr val="3D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index.html</a:t>
            </a:r>
            <a:endParaRPr sz="17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D8B37"/>
                </a:solidFill>
                <a:latin typeface="微软雅黑" panose="020B0503020204020204" charset="-122"/>
                <a:ea typeface="微软雅黑" panose="020B0503020204020204" charset="-122"/>
              </a:rPr>
              <a:t>144KB 单页应用</a:t>
            </a:r>
            <a:endParaRPr sz="1200" b="1">
              <a:solidFill>
                <a:srgbClr val="3D8B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3,672 行代码，全模块集成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26280" y="1920240"/>
            <a:ext cx="352044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920240"/>
            <a:ext cx="64008" cy="2057400"/>
          </a:xfrm>
          <a:prstGeom prst="rect">
            <a:avLst/>
          </a:prstGeom>
          <a:solidFill>
            <a:srgbClr val="B83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16式数据</a:t>
            </a:r>
            <a:endParaRPr sz="17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743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完整结构化录入</a:t>
            </a:r>
            <a:endParaRPr sz="12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00600" y="31546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名称、步骤、要领、呼吸节奏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321040" y="1920240"/>
            <a:ext cx="352044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920240"/>
            <a:ext cx="64008" cy="20574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11个视频</a:t>
            </a:r>
            <a:endParaRPr sz="17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95360" y="2743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1080P AV1 格式</a:t>
            </a:r>
            <a:endParaRPr sz="12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95360" y="31546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杨氏十六式完整教学录像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31520" y="4297680"/>
            <a:ext cx="352044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297680"/>
            <a:ext cx="64008" cy="2057400"/>
          </a:xfrm>
          <a:prstGeom prst="rect">
            <a:avLst/>
          </a:prstGeom>
          <a:solidFill>
            <a:srgbClr val="3A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572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6份文档</a:t>
            </a:r>
            <a:endParaRPr sz="17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5840" y="5120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调研/解析/方案</a:t>
            </a:r>
            <a:endParaRPr sz="1200" b="1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5840" y="5532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主题调研、动作解析、交互方案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526280" y="4297680"/>
            <a:ext cx="352044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80" y="4297680"/>
            <a:ext cx="64008" cy="2057400"/>
          </a:xfrm>
          <a:prstGeom prst="rect">
            <a:avLst/>
          </a:prstGeom>
          <a:solidFill>
            <a:srgbClr val="7A7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4572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Figma设计稿</a:t>
            </a:r>
            <a:endParaRPr sz="17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00600" y="5120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5级Text Style</a:t>
            </a:r>
            <a:endParaRPr sz="1200" b="1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00600" y="5532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H1/H2/H3/Body/Caption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321040" y="4297680"/>
            <a:ext cx="352044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4297680"/>
            <a:ext cx="64008" cy="2057400"/>
          </a:xfrm>
          <a:prstGeom prst="rect">
            <a:avLst/>
          </a:prstGeom>
          <a:solidFill>
            <a:srgbClr val="D48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4572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Noto Serif SC</a:t>
            </a:r>
            <a:endParaRPr sz="17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95360" y="5120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4850A"/>
                </a:solidFill>
                <a:latin typeface="微软雅黑" panose="020B0503020204020204" charset="-122"/>
                <a:ea typeface="微软雅黑" panose="020B0503020204020204" charset="-122"/>
              </a:rPr>
              <a:t>思源宋体已安装</a:t>
            </a:r>
            <a:endParaRPr sz="1200" b="1">
              <a:solidFill>
                <a:srgbClr val="D4850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595360" y="5532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GitHub镜像下载，Figma可用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9 / 12</a:t>
            </a:r>
            <a:endParaRPr sz="9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3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685800"/>
            <a:ext cx="731520" cy="0"/>
          </a:xfrm>
          <a:prstGeom prst="line">
            <a:avLst/>
          </a:prstGeom>
          <a:ln w="38100">
            <a:solidFill>
              <a:srgbClr val="B831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54480" y="502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项目评估</a:t>
            </a:r>
            <a:endParaRPr sz="11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97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HTML</a:t>
            </a: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完成度评估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用户旅程链路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0" y="2057400"/>
            <a:ext cx="5943600" cy="228600"/>
          </a:xfrm>
          <a:prstGeom prst="roundRect">
            <a:avLst/>
          </a:prstGeom>
          <a:solidFill>
            <a:srgbClr val="161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2057400"/>
            <a:ext cx="5943600" cy="228600"/>
          </a:xfrm>
          <a:prstGeom prst="roundRect">
            <a:avLst/>
          </a:prstGeom>
          <a:solidFill>
            <a:srgbClr val="3D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D8B37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1600" b="1">
              <a:solidFill>
                <a:srgbClr val="3D8B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核心交互功能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657600" y="2743200"/>
            <a:ext cx="5943600" cy="228600"/>
          </a:xfrm>
          <a:prstGeom prst="roundRect">
            <a:avLst/>
          </a:prstGeom>
          <a:solidFill>
            <a:srgbClr val="161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2743200"/>
            <a:ext cx="5349240" cy="228600"/>
          </a:xfrm>
          <a:prstGeom prst="roundRect">
            <a:avLst/>
          </a:prstGeom>
          <a:solidFill>
            <a:srgbClr val="3D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2697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D8B37"/>
                </a:solidFill>
                <a:latin typeface="微软雅黑" panose="020B0503020204020204" charset="-122"/>
                <a:ea typeface="微软雅黑" panose="020B0503020204020204" charset="-122"/>
              </a:rPr>
              <a:t>90%</a:t>
            </a:r>
            <a:endParaRPr sz="1600" b="1">
              <a:solidFill>
                <a:srgbClr val="3D8B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视觉设计落地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0" y="3429000"/>
            <a:ext cx="5943600" cy="228600"/>
          </a:xfrm>
          <a:prstGeom prst="roundRect">
            <a:avLst/>
          </a:prstGeom>
          <a:solidFill>
            <a:srgbClr val="161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0" y="3429000"/>
            <a:ext cx="4754880" cy="228600"/>
          </a:xfrm>
          <a:prstGeom prst="round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3383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80%</a:t>
            </a:r>
            <a:endParaRPr sz="16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数据完整性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657600" y="4114800"/>
            <a:ext cx="5943600" cy="228600"/>
          </a:xfrm>
          <a:prstGeom prst="roundRect">
            <a:avLst/>
          </a:prstGeom>
          <a:solidFill>
            <a:srgbClr val="161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0" y="4114800"/>
            <a:ext cx="5943600" cy="228600"/>
          </a:xfrm>
          <a:prstGeom prst="roundRect">
            <a:avLst/>
          </a:prstGeom>
          <a:solidFill>
            <a:srgbClr val="3D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4069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D8B37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1600" b="1">
              <a:solidFill>
                <a:srgbClr val="3D8B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400" y="4754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Bug修复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657600" y="4800600"/>
            <a:ext cx="5943600" cy="228600"/>
          </a:xfrm>
          <a:prstGeom prst="roundRect">
            <a:avLst/>
          </a:prstGeom>
          <a:solidFill>
            <a:srgbClr val="161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57600" y="4800600"/>
            <a:ext cx="5943600" cy="228600"/>
          </a:xfrm>
          <a:prstGeom prst="roundRect">
            <a:avLst/>
          </a:prstGeom>
          <a:solidFill>
            <a:srgbClr val="3D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4754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D8B37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1600" b="1">
              <a:solidFill>
                <a:srgbClr val="3D8B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5440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响应式适配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657600" y="5486400"/>
            <a:ext cx="5943600" cy="228600"/>
          </a:xfrm>
          <a:prstGeom prst="roundRect">
            <a:avLst/>
          </a:prstGeom>
          <a:solidFill>
            <a:srgbClr val="161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57600" y="5486400"/>
            <a:ext cx="594360" cy="228600"/>
          </a:xfrm>
          <a:prstGeom prst="roundRect">
            <a:avLst/>
          </a:prstGeom>
          <a:solidFill>
            <a:srgbClr val="B83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5440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10%</a:t>
            </a:r>
            <a:endParaRPr sz="16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31520" y="5989320"/>
            <a:ext cx="10698480" cy="54864"/>
          </a:xfrm>
          <a:prstGeom prst="rect">
            <a:avLst/>
          </a:prstGeom>
          <a:solidFill>
            <a:srgbClr val="2A2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126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综合评估：主界面 90% 完工  |  全链路已跑通  |  进入细节打磨阶段</a:t>
            </a:r>
            <a:endParaRPr sz="1200" b="0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10 / 12</a:t>
            </a:r>
            <a:endParaRPr sz="9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3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685800"/>
            <a:ext cx="731520" cy="0"/>
          </a:xfrm>
          <a:prstGeom prst="line">
            <a:avLst/>
          </a:prstGeom>
          <a:ln w="38100">
            <a:solidFill>
              <a:srgbClr val="B831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54480" y="502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8312F"/>
                </a:solidFill>
                <a:latin typeface="微软雅黑" panose="020B0503020204020204" charset="-122"/>
                <a:ea typeface="微软雅黑" panose="020B0503020204020204" charset="-122"/>
              </a:rPr>
              <a:t>后续计划</a:t>
            </a:r>
            <a:endParaRPr sz="1100" b="1">
              <a:solidFill>
                <a:srgbClr val="B831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待办事项 &amp; 路线图</a:t>
            </a:r>
            <a:endParaRPr sz="2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984248"/>
            <a:ext cx="640080" cy="365760"/>
          </a:xfrm>
          <a:prstGeom prst="roundRect">
            <a:avLst/>
          </a:prstGeom>
          <a:solidFill>
            <a:srgbClr val="B83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P0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554480" y="2240280"/>
            <a:ext cx="365760" cy="0"/>
          </a:xfrm>
          <a:prstGeom prst="line">
            <a:avLst/>
          </a:prstGeom>
          <a:ln w="19050">
            <a:solidFill>
              <a:srgbClr val="B831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57400" y="1965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Figma 设计规范核对</a:t>
            </a:r>
            <a:endParaRPr sz="1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0" y="20116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Page Title 24px Bold 与 Figma H1-H3 体系对照统一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2761488"/>
            <a:ext cx="640080" cy="365760"/>
          </a:xfrm>
          <a:prstGeom prst="roundRect">
            <a:avLst/>
          </a:prstGeom>
          <a:solidFill>
            <a:srgbClr val="B83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P0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554480" y="3017520"/>
            <a:ext cx="365760" cy="0"/>
          </a:xfrm>
          <a:prstGeom prst="line">
            <a:avLst/>
          </a:prstGeom>
          <a:ln w="19050">
            <a:solidFill>
              <a:srgbClr val="B831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05740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参赛要求核查</a:t>
            </a:r>
            <a:endParaRPr sz="1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03520" y="27889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对照全国建模精英联赛评分标准逐项检查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" y="3538727"/>
            <a:ext cx="640080" cy="365760"/>
          </a:xfrm>
          <a:prstGeom prst="round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554480" y="3794759"/>
            <a:ext cx="365760" cy="0"/>
          </a:xfrm>
          <a:prstGeom prst="line">
            <a:avLst/>
          </a:prstGeom>
          <a:ln w="19050">
            <a:solidFill>
              <a:srgbClr val="C4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057400" y="35204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视觉打磨与动画</a:t>
            </a:r>
            <a:endParaRPr sz="1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03520" y="356615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交互动画过渡、微交互细节、页面切换动效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4315967"/>
            <a:ext cx="640080" cy="365760"/>
          </a:xfrm>
          <a:prstGeom prst="round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1554480" y="4571999"/>
            <a:ext cx="365760" cy="0"/>
          </a:xfrm>
          <a:prstGeom prst="line">
            <a:avLst/>
          </a:prstGeom>
          <a:ln w="19050">
            <a:solidFill>
              <a:srgbClr val="C4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057400" y="42976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响应式多端适配</a:t>
            </a:r>
            <a:endParaRPr sz="1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03520" y="434339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移动端 / 平板端布局，确保多端展示效果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5093208"/>
            <a:ext cx="640080" cy="365760"/>
          </a:xfrm>
          <a:prstGeom prst="round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1554480" y="5349240"/>
            <a:ext cx="365760" cy="0"/>
          </a:xfrm>
          <a:prstGeom prst="line">
            <a:avLst/>
          </a:prstGeom>
          <a:ln w="19050">
            <a:solidFill>
              <a:srgbClr val="C4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057400" y="5074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底部留白复查</a:t>
            </a:r>
            <a:endParaRPr sz="1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03520" y="51206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分步教学页480px空白区已修复，需二次确认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31520" y="5870448"/>
            <a:ext cx="640080" cy="365760"/>
          </a:xfrm>
          <a:prstGeom prst="roundRect">
            <a:avLst/>
          </a:prstGeom>
          <a:solidFill>
            <a:srgbClr val="7A7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1554480" y="6126480"/>
            <a:ext cx="365760" cy="0"/>
          </a:xfrm>
          <a:prstGeom prst="line">
            <a:avLst/>
          </a:prstGeom>
          <a:ln w="19050">
            <a:solidFill>
              <a:srgbClr val="7A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57400" y="5852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</a:rPr>
              <a:t>性能优化</a:t>
            </a:r>
            <a:endParaRPr sz="1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03520" y="58978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A3632"/>
                </a:solidFill>
                <a:latin typeface="微软雅黑" panose="020B0503020204020204" charset="-122"/>
                <a:ea typeface="微软雅黑" panose="020B0503020204020204" charset="-122"/>
              </a:rPr>
              <a:t>视频懒加载、资源预加载、CSS/JS 压缩</a:t>
            </a:r>
            <a:endParaRPr sz="1100" b="0">
              <a:solidFill>
                <a:srgbClr val="3A36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11 / 12</a:t>
            </a:r>
            <a:endParaRPr sz="9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3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6000" b="1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</a:rPr>
              <a:t>感谢观看</a:t>
            </a:r>
            <a:endParaRPr sz="6000" b="1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114800" y="3200400"/>
            <a:ext cx="3931920" cy="0"/>
          </a:xfrm>
          <a:prstGeom prst="line">
            <a:avLst/>
          </a:prstGeom>
          <a:ln w="19050">
            <a:solidFill>
              <a:srgbClr val="C4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智承太极 — 数字教学与交互展示系统</a:t>
            </a:r>
            <a:endParaRPr sz="20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全国建模精英联赛参赛项目</a:t>
            </a:r>
            <a:endParaRPr sz="1400" b="0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418320" cy="34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sz="14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汇报人</a:t>
            </a:r>
            <a:r>
              <a:rPr sz="14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sz="1400" b="0">
                <a:solidFill>
                  <a:srgbClr val="C8C2B8"/>
                </a:solidFill>
                <a:latin typeface="微软雅黑" panose="020B0503020204020204" charset="-122"/>
                <a:ea typeface="微软雅黑" panose="020B0503020204020204" charset="-122"/>
              </a:rPr>
              <a:t>金润山</a:t>
            </a:r>
            <a:endParaRPr lang="zh-CN" sz="1400" b="0">
              <a:solidFill>
                <a:srgbClr val="C8C2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55778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2026年7月  ·  由 AI 协作系统驱动开发</a:t>
            </a:r>
            <a:endParaRPr sz="11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3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A756D"/>
                </a:solidFill>
                <a:latin typeface="微软雅黑" panose="020B0503020204020204" charset="-122"/>
                <a:ea typeface="微软雅黑" panose="020B0503020204020204" charset="-122"/>
              </a:rPr>
              <a:t>12 / 12</a:t>
            </a:r>
            <a:endParaRPr sz="900" b="0">
              <a:solidFill>
                <a:srgbClr val="7A75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2180</Words>
  <Application>WPS 演示</Application>
  <PresentationFormat>On-screen Show (4:3)</PresentationFormat>
  <Paragraphs>396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Serif SC</vt:lpstr>
      <vt:lpstr>微软雅黑</vt:lpstr>
      <vt:lpstr>Calibri</vt:lpstr>
      <vt:lpstr>Arial Unicode MS</vt:lpstr>
      <vt:lpstr>华文琥珀</vt:lpstr>
      <vt:lpstr>仓耳渔阳体 W05</vt:lpstr>
      <vt:lpstr>华文楷体</vt:lpstr>
      <vt:lpstr>幼圆</vt:lpstr>
      <vt:lpstr>方正姚体</vt:lpstr>
      <vt:lpstr>新宋体</vt:lpstr>
      <vt:lpstr>华文行楷</vt:lpstr>
      <vt:lpstr>华文彩云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金润山</cp:lastModifiedBy>
  <cp:revision>2</cp:revision>
  <dcterms:created xsi:type="dcterms:W3CDTF">2013-01-27T09:14:00Z</dcterms:created>
  <dcterms:modified xsi:type="dcterms:W3CDTF">2026-07-30T02:51:14Z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CBBC09A6BFF543D6A39DDC4716B18A11_12</vt:lpwstr>
  </property>
  <property fmtid="{D5CDD505-2E9C-101B-9397-08002B2CF9AE}" pid="3" name="KSOProductBuildVer">
    <vt:lpwstr>2052-12.1.0.23542</vt:lpwstr>
  </property>
</Properties>
</file>